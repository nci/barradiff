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8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B42D71-58B8-FE06-9395-6C5F94F743D4}" v="2" dt="2026-08-14T07:22:15.23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BARRADiff</a:t>
            </a:r>
          </a:p>
        </p:txBody>
      </p:sp>
      <p:sp>
        <p:nvSpPr>
          <p:cNvPr id="95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140F5-E88D-D387-A18C-148311A1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dirty="0"/>
              <a:t>Intro to climate downscaling task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74343-A887-8187-A431-FDDE5E9C7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Also known as super resolution in computer vision</a:t>
            </a:r>
          </a:p>
          <a:p>
            <a:r>
              <a:rPr lang="en-US" dirty="0">
                <a:ea typeface="+mj-lt"/>
                <a:cs typeface="+mj-lt"/>
              </a:rPr>
              <a:t>Enhance image resolution: Convert low-res (LR) to high-res (HR) output</a:t>
            </a:r>
            <a:endParaRPr lang="en-US"/>
          </a:p>
          <a:p>
            <a:r>
              <a:rPr lang="en-US" dirty="0">
                <a:ea typeface="+mj-lt"/>
                <a:cs typeface="+mj-lt"/>
              </a:rPr>
              <a:t>Goal: recover high-frequency details such as textures, sharpness </a:t>
            </a:r>
            <a:r>
              <a:rPr lang="en-US" dirty="0" err="1">
                <a:ea typeface="+mj-lt"/>
                <a:cs typeface="+mj-lt"/>
              </a:rPr>
              <a:t>etc</a:t>
            </a:r>
            <a:r>
              <a:rPr lang="en-US" dirty="0">
                <a:ea typeface="+mj-lt"/>
                <a:cs typeface="+mj-lt"/>
              </a:rPr>
              <a:t> lost in the low-res images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Challenges</a:t>
            </a:r>
            <a:r>
              <a:rPr lang="en-US" dirty="0"/>
              <a:t>: </a:t>
            </a:r>
            <a:r>
              <a:rPr lang="en-US" dirty="0">
                <a:ea typeface="+mj-lt"/>
                <a:cs typeface="+mj-lt"/>
              </a:rPr>
              <a:t> 1) Ill-posed inverse problem: Multiple HR images can map to one LR 2) Must hallucinate plausible high-frequency details without artifacts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9601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Methods Overview</a:t>
            </a:r>
          </a:p>
        </p:txBody>
      </p:sp>
      <p:sp>
        <p:nvSpPr>
          <p:cNvPr id="98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38200" y="4655909"/>
            <a:ext cx="10515600" cy="1521054"/>
          </a:xfrm>
          <a:prstGeom prst="rect">
            <a:avLst/>
          </a:prstGeom>
        </p:spPr>
        <p:txBody>
          <a:bodyPr/>
          <a:lstStyle/>
          <a:p>
            <a:r>
              <a:t>dddd</a:t>
            </a:r>
          </a:p>
        </p:txBody>
      </p:sp>
      <p:pic>
        <p:nvPicPr>
          <p:cNvPr id="9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6160"/>
            <a:ext cx="12192000" cy="46025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3A85A-1260-0564-AA50-0522674A2443}"/>
              </a:ext>
            </a:extLst>
          </p:cNvPr>
          <p:cNvSpPr txBox="1">
            <a:spLocks/>
          </p:cNvSpPr>
          <p:nvPr/>
        </p:nvSpPr>
        <p:spPr>
          <a:xfrm>
            <a:off x="7242858" y="166587"/>
            <a:ext cx="4689677" cy="1949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>
            <a:normAutofit fontScale="92500" lnSpcReduction="10000"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ptos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ptos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ptos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ptos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ptos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ptos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ptos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ptos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ptos"/>
              </a:defRPr>
            </a:lvl9pPr>
          </a:lstStyle>
          <a:p>
            <a:pPr hangingPunct="1"/>
            <a:r>
              <a:rPr lang="en-US" dirty="0"/>
              <a:t>Compute efficiency – 64x less compute than pixel space</a:t>
            </a:r>
          </a:p>
          <a:p>
            <a:r>
              <a:rPr lang="en-US" dirty="0"/>
              <a:t>Sample efficiency – compressed away </a:t>
            </a:r>
            <a:r>
              <a:rPr lang="en-US" dirty="0">
                <a:ea typeface="+mj-lt"/>
                <a:cs typeface="+mj-lt"/>
              </a:rPr>
              <a:t>redundant pixels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Training data</a:t>
            </a:r>
          </a:p>
        </p:txBody>
      </p:sp>
      <p:sp>
        <p:nvSpPr>
          <p:cNvPr id="102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45719" tIns="45720" rIns="45719" bIns="45720" anchor="t">
            <a:normAutofit/>
          </a:bodyPr>
          <a:lstStyle/>
          <a:p>
            <a:r>
              <a:rPr lang="en-US" dirty="0"/>
              <a:t>Input</a:t>
            </a:r>
            <a:r>
              <a:rPr dirty="0"/>
              <a:t>: ERA 5, target: BARRA2-C2 AUST-04 </a:t>
            </a:r>
          </a:p>
          <a:p>
            <a:r>
              <a:rPr dirty="0"/>
              <a:t>12 surface variables</a:t>
            </a:r>
          </a:p>
          <a:p>
            <a:r>
              <a:rPr dirty="0"/>
              <a:t>6 pressure variables with 4 pressure levels each</a:t>
            </a:r>
          </a:p>
          <a:p>
            <a:r>
              <a:rPr lang="en-GB" dirty="0"/>
              <a:t>Time period 2000 – 2022</a:t>
            </a:r>
          </a:p>
          <a:p>
            <a:r>
              <a:rPr lang="en-GB" dirty="0"/>
              <a:t>Number of training samples: 3.6 million</a:t>
            </a:r>
          </a:p>
          <a:p>
            <a:endParaRPr lang="en-GB"/>
          </a:p>
          <a:p>
            <a:r>
              <a:rPr lang="en-GB" dirty="0"/>
              <a:t> We thank </a:t>
            </a:r>
            <a:r>
              <a:rPr lang="en-GB" dirty="0">
                <a:ea typeface="+mj-lt"/>
                <a:cs typeface="+mj-lt"/>
              </a:rPr>
              <a:t>Christian Stassen (BOM) for helping the variable mapping between ERA5 and BARRA2!</a:t>
            </a:r>
            <a:endParaRPr lang="en-GB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 txBox="1">
            <a:spLocks noGrp="1"/>
          </p:cNvSpPr>
          <p:nvPr>
            <p:ph type="title"/>
          </p:nvPr>
        </p:nvSpPr>
        <p:spPr>
          <a:xfrm>
            <a:off x="315686" y="180068"/>
            <a:ext cx="10515601" cy="432936"/>
          </a:xfrm>
          <a:prstGeom prst="rect">
            <a:avLst/>
          </a:prstGeom>
        </p:spPr>
        <p:txBody>
          <a:bodyPr/>
          <a:lstStyle>
            <a:lvl1pPr defTabSz="530351">
              <a:defRPr sz="2262"/>
            </a:lvl1pPr>
          </a:lstStyle>
          <a:p>
            <a:r>
              <a:t>Results - last year</a:t>
            </a:r>
          </a:p>
        </p:txBody>
      </p:sp>
      <p:pic>
        <p:nvPicPr>
          <p:cNvPr id="105" name="Content Placeholder 3" descr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20" y="601372"/>
            <a:ext cx="7318441" cy="5978792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Content Placeholder 2"/>
          <p:cNvSpPr txBox="1"/>
          <p:nvPr/>
        </p:nvSpPr>
        <p:spPr>
          <a:xfrm>
            <a:off x="8274275" y="614776"/>
            <a:ext cx="2835477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Initial attempt last year 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Strong tiling artifacts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Individual tiles are ok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>
            <a:spLocks noGrp="1"/>
          </p:cNvSpPr>
          <p:nvPr>
            <p:ph type="title"/>
          </p:nvPr>
        </p:nvSpPr>
        <p:spPr>
          <a:xfrm>
            <a:off x="315686" y="180068"/>
            <a:ext cx="10515601" cy="432936"/>
          </a:xfrm>
          <a:prstGeom prst="rect">
            <a:avLst/>
          </a:prstGeom>
        </p:spPr>
        <p:txBody>
          <a:bodyPr/>
          <a:lstStyle>
            <a:lvl1pPr defTabSz="530351">
              <a:defRPr sz="2262"/>
            </a:lvl1pPr>
          </a:lstStyle>
          <a:p>
            <a:r>
              <a:t>Results - regional</a:t>
            </a:r>
          </a:p>
        </p:txBody>
      </p:sp>
      <p:pic>
        <p:nvPicPr>
          <p:cNvPr id="109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50" y="712182"/>
            <a:ext cx="11628331" cy="59764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>
            <a:spLocks noGrp="1"/>
          </p:cNvSpPr>
          <p:nvPr>
            <p:ph type="title"/>
          </p:nvPr>
        </p:nvSpPr>
        <p:spPr>
          <a:xfrm>
            <a:off x="315686" y="180068"/>
            <a:ext cx="10515601" cy="432936"/>
          </a:xfrm>
          <a:prstGeom prst="rect">
            <a:avLst/>
          </a:prstGeom>
        </p:spPr>
        <p:txBody>
          <a:bodyPr/>
          <a:lstStyle>
            <a:lvl1pPr defTabSz="530351">
              <a:defRPr sz="2262"/>
            </a:lvl1pPr>
          </a:lstStyle>
          <a:p>
            <a:r>
              <a:t>Results - regional</a:t>
            </a:r>
          </a:p>
        </p:txBody>
      </p:sp>
      <p:pic>
        <p:nvPicPr>
          <p:cNvPr id="11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29" y="628676"/>
            <a:ext cx="11680522" cy="60390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>
            <a:spLocks noGrp="1"/>
          </p:cNvSpPr>
          <p:nvPr>
            <p:ph type="title"/>
          </p:nvPr>
        </p:nvSpPr>
        <p:spPr>
          <a:xfrm>
            <a:off x="315686" y="160275"/>
            <a:ext cx="10515601" cy="541794"/>
          </a:xfrm>
          <a:prstGeom prst="rect">
            <a:avLst/>
          </a:prstGeom>
        </p:spPr>
        <p:txBody>
          <a:bodyPr/>
          <a:lstStyle/>
          <a:p>
            <a:pPr defTabSz="457200">
              <a:defRPr sz="1600"/>
            </a:pPr>
            <a:r>
              <a:t>Results – global</a:t>
            </a:r>
            <a:br/>
            <a:endParaRPr/>
          </a:p>
        </p:txBody>
      </p:sp>
      <p:pic>
        <p:nvPicPr>
          <p:cNvPr id="2" name="Picture 1" descr="A map of the world&#10;&#10;AI-generated content may be incorrect.">
            <a:extLst>
              <a:ext uri="{FF2B5EF4-FFF2-40B4-BE49-F238E27FC236}">
                <a16:creationId xmlns:a16="http://schemas.microsoft.com/office/drawing/2014/main" id="{F63E1051-07F2-DB62-E2FA-042FA34AC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753"/>
            <a:ext cx="12192000" cy="637590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>
            <a:spLocks noGrp="1"/>
          </p:cNvSpPr>
          <p:nvPr>
            <p:ph type="title"/>
          </p:nvPr>
        </p:nvSpPr>
        <p:spPr>
          <a:xfrm>
            <a:off x="315686" y="160275"/>
            <a:ext cx="10515601" cy="541794"/>
          </a:xfrm>
          <a:prstGeom prst="rect">
            <a:avLst/>
          </a:prstGeom>
        </p:spPr>
        <p:txBody>
          <a:bodyPr/>
          <a:lstStyle/>
          <a:p>
            <a:pPr defTabSz="457200">
              <a:defRPr sz="1600"/>
            </a:pPr>
            <a:r>
              <a:t>Results – global</a:t>
            </a:r>
            <a:br/>
            <a:endParaRPr/>
          </a:p>
        </p:txBody>
      </p:sp>
      <p:pic>
        <p:nvPicPr>
          <p:cNvPr id="115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072"/>
            <a:ext cx="12192000" cy="63759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1"/>
          <p:cNvSpPr txBox="1">
            <a:spLocks noGrp="1"/>
          </p:cNvSpPr>
          <p:nvPr>
            <p:ph type="title"/>
          </p:nvPr>
        </p:nvSpPr>
        <p:spPr>
          <a:xfrm>
            <a:off x="484040" y="493321"/>
            <a:ext cx="10515601" cy="879695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Evaluation challenge</a:t>
            </a:r>
          </a:p>
        </p:txBody>
      </p:sp>
      <p:sp>
        <p:nvSpPr>
          <p:cNvPr id="121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594581" y="1600241"/>
            <a:ext cx="6874807" cy="4516900"/>
          </a:xfrm>
          <a:prstGeom prst="rect">
            <a:avLst/>
          </a:prstGeom>
        </p:spPr>
        <p:txBody>
          <a:bodyPr lIns="45719" tIns="45720" rIns="45719" bIns="45720" anchor="t">
            <a:normAutofit/>
          </a:bodyPr>
          <a:lstStyle/>
          <a:p>
            <a:pPr>
              <a:defRPr sz="2400"/>
            </a:pPr>
            <a:r>
              <a:rPr dirty="0"/>
              <a:t>No valid pixel-by-pixel comparison</a:t>
            </a:r>
          </a:p>
          <a:p>
            <a:pPr>
              <a:defRPr sz="2400"/>
            </a:pPr>
            <a:r>
              <a:rPr lang="en-GB" dirty="0"/>
              <a:t>Downscaling/super-resolution problems are ill-posed due to non-unique solutions. Consider the hypothetical 2x super-resolution task for the low-res 1x1 image with a </a:t>
            </a:r>
            <a:r>
              <a:rPr lang="en-GB" b="1" dirty="0"/>
              <a:t>known degradation process</a:t>
            </a:r>
            <a:r>
              <a:rPr lang="en-GB" dirty="0"/>
              <a:t> of being spatial averaging of the high-res ground truth</a:t>
            </a:r>
          </a:p>
          <a:p>
            <a:pPr>
              <a:defRPr sz="2400"/>
            </a:pPr>
            <a:endParaRPr lang="en-GB" dirty="0"/>
          </a:p>
          <a:p>
            <a:pPr>
              <a:defRPr sz="2400"/>
            </a:pPr>
            <a:r>
              <a:rPr dirty="0"/>
              <a:t>? Distribution comparison</a:t>
            </a:r>
          </a:p>
          <a:p>
            <a:pPr>
              <a:defRPr sz="2400"/>
            </a:pPr>
            <a:r>
              <a:rPr dirty="0"/>
              <a:t>? Spectral comparison</a:t>
            </a:r>
          </a:p>
          <a:p>
            <a:pPr>
              <a:defRPr sz="2400"/>
            </a:pPr>
            <a:r>
              <a:rPr dirty="0"/>
              <a:t>Needs community help …</a:t>
            </a:r>
          </a:p>
        </p:txBody>
      </p:sp>
      <p:pic>
        <p:nvPicPr>
          <p:cNvPr id="122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871" y="1593303"/>
            <a:ext cx="3192851" cy="36713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AB4A-9B7C-1F29-85FB-25EA150D9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8"/>
            <a:ext cx="10515600" cy="503406"/>
          </a:xfrm>
        </p:spPr>
        <p:txBody>
          <a:bodyPr lIns="45719" tIns="45720" rIns="45719" bIns="45720" anchor="ctr">
            <a:normAutofit fontScale="90000"/>
          </a:bodyPr>
          <a:lstStyle/>
          <a:p>
            <a:r>
              <a:rPr lang="en-US" sz="3200" dirty="0"/>
              <a:t>Evaluations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E1590-643E-05D0-97CD-6B6323AD9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06490" y="792914"/>
            <a:ext cx="4249152" cy="5544469"/>
          </a:xfrm>
        </p:spPr>
        <p:txBody>
          <a:bodyPr lIns="45719" tIns="45720" rIns="45719" bIns="45720" anchor="t">
            <a:normAutofit/>
          </a:bodyPr>
          <a:lstStyle/>
          <a:p>
            <a:r>
              <a:rPr lang="en-US" dirty="0"/>
              <a:t>X-axis: leading hours from 2024-01-01T00:00:00</a:t>
            </a:r>
          </a:p>
          <a:p>
            <a:r>
              <a:rPr lang="en-US" dirty="0"/>
              <a:t>Y-axis: </a:t>
            </a:r>
            <a:r>
              <a:rPr lang="en-US" dirty="0" err="1"/>
              <a:t>tas</a:t>
            </a:r>
            <a:r>
              <a:rPr lang="en-US" dirty="0"/>
              <a:t> over the AU region for each of the quantiles [0, 0.25, 0.5, mean, 0.75, 1]</a:t>
            </a:r>
            <a:endParaRPr lang="en-US"/>
          </a:p>
          <a:p>
            <a:r>
              <a:rPr lang="en-US" dirty="0"/>
              <a:t>Ground truth: circles with solid line</a:t>
            </a:r>
          </a:p>
          <a:p>
            <a:r>
              <a:rPr lang="en-US" dirty="0"/>
              <a:t>LDM predictions: squares with dashed line</a:t>
            </a:r>
          </a:p>
          <a:p>
            <a:endParaRPr lang="en-US" dirty="0"/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A07879B-732B-66C3-71B7-1BDEBB1D7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3" y="491289"/>
            <a:ext cx="7158791" cy="623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618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BARRADiff</vt:lpstr>
      <vt:lpstr>Intro to climate downscaling task</vt:lpstr>
      <vt:lpstr>Methods Overview</vt:lpstr>
      <vt:lpstr>Training data</vt:lpstr>
      <vt:lpstr>Results - last year</vt:lpstr>
      <vt:lpstr>Results - regional</vt:lpstr>
      <vt:lpstr>Results - regional</vt:lpstr>
      <vt:lpstr>Results – global </vt:lpstr>
      <vt:lpstr>Results – global </vt:lpstr>
      <vt:lpstr>Evaluation challenge</vt:lpstr>
      <vt:lpstr>Evaluations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144</cp:revision>
  <dcterms:modified xsi:type="dcterms:W3CDTF">2026-08-14T07:22:41Z</dcterms:modified>
</cp:coreProperties>
</file>